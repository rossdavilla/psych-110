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94"/>
    <p:restoredTop sz="94702"/>
  </p:normalViewPr>
  <p:slideViewPr>
    <p:cSldViewPr snapToGrid="0">
      <p:cViewPr varScale="1">
        <p:scale>
          <a:sx n="98" d="100"/>
          <a:sy n="98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98790-10FD-9C44-AA83-31142C82769E}" type="datetimeFigureOut">
              <a:rPr lang="en-US" smtClean="0"/>
              <a:t>5/16/25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52DD2-4459-154F-A601-B18ADA80A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9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779CE-DD50-0D03-2807-99B09E425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BC450-0A2F-41D5-E95C-A81B25081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71E-455D-5E86-0D42-6A736829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D28EC-8ADE-C867-428B-DF94C683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5E2BB-6072-8E42-C540-8429AA04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2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96E6-9BB6-EDAE-79D0-80C33BAA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EEE83-4B55-4922-609E-F623C822F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16DB8-1859-4639-03C6-B8B1F2DD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73B1E-7C31-FB2C-8E76-A09591C7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3FACF-D486-5A47-5B3A-E0446A5D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6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906A-63F7-6B66-96AA-9BC87D71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4BF4B-A947-6FA5-F7B6-5F7E9EA05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8B5BE-53A6-5F17-4969-E4FC2B0A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C30D1-7A1E-1805-826F-5BDF4520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AA9FC-77B6-CCA0-C2C1-E461E2D9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9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9486-11BA-EF68-5050-D0F68DE5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20C-0258-26F0-EF3C-8757CB8B9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117B3-16EE-85B8-3F8F-EF7A90B5A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D1491-5358-4344-C5F6-739920F5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69E5D-70FD-918F-3514-F5A3B53F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DD615-2300-FFD7-C114-FE8259EC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42D7-B964-27A0-A55F-FB7433FCD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E5DE8-5168-E18C-7EAF-2AE35276E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D0552-4FAB-4185-F00B-00DC940C3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B548C-1D1C-A2F1-A9E3-F12F83360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35E51-3702-5C83-8FA5-B0548BD83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325A3-F39A-C4E6-A451-B5D1246A7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1C83BD-B5AA-689E-0A60-C0B26378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9058F-1F09-7B8C-FACC-039B24C48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51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92F74-7920-3C6E-44DB-44F8C3B0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1E563-E5B5-AD6C-FED6-75C0544C1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BD062-5730-3525-545D-1CBFF828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6CAB7-2BD6-893B-70E4-E626A8F3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3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B22B2E-56A4-1472-B1FD-44DDB201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3342A7-FD9F-4BD0-8803-11A7C991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A20EC-0FC7-E692-BA40-FD49AF7D8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BF91-135C-574C-D03B-A3AB7DE93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71332-D0B2-6225-918C-B11C13963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3A41B-F6B1-0B62-68F7-747F823CF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BC1A5-8329-34B8-874B-A772C1040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B00A7-BD02-B622-4927-9FD7BD61A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4444B-F3A5-0657-BDC3-5903FF9E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1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CACB-18F7-3C56-26B3-DA44AFC8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9B9A48-EB79-8639-1E41-F84B535BA7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66E17-6A87-D39A-A38A-B89DF37C6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9A65A-0D09-6561-D7C4-C382F701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FEFB4-ACF3-87D9-1DED-E3076F31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C6655-522C-9B79-E25D-4D02EE82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1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1581-C9A3-F242-4407-FDF6B2B8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5167C-2677-723D-943A-8F6F245B5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4E936-E527-E002-9251-9AFE37DD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97F09-9110-EA60-0A99-7C568EE4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8242A-AFD1-01A2-E3D9-9AA110EE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EB6FF-4271-7FF5-98D8-7B350E31C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5E97DA-19B9-C5FA-E4AB-E58B1C8E2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3854C-C1A8-4449-268C-CD1EFBC8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3522-230B-3140-4097-AAAEB4E3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7C40F-E914-BBD0-45F6-0C600227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17A2C-6464-31BD-8A56-16DFE5E51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72F40-BB2C-BDC4-2E52-E8668A23C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2F35B-D3E2-9FDB-CEF8-C829181E5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17901-6CA8-7244-BB63-D5E139B731CB}" type="datetimeFigureOut">
              <a:rPr lang="en-US" smtClean="0"/>
              <a:t>5/16/25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478D5-160E-F602-0684-3B40E0FEA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35051-FAFC-AD2F-CA4A-4C5D4A035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7171F0-9DB9-9944-9C73-60AEB0D1D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8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fetus and gender symbols on a pink background&#10;&#10;AI-generated content may be incorrect.">
            <a:extLst>
              <a:ext uri="{FF2B5EF4-FFF2-40B4-BE49-F238E27FC236}">
                <a16:creationId xmlns:a16="http://schemas.microsoft.com/office/drawing/2014/main" id="{0BBCBB87-868A-49E9-1144-87601E91B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1310" y="0"/>
            <a:ext cx="7467451" cy="6858000"/>
          </a:xfrm>
        </p:spPr>
      </p:pic>
      <p:pic>
        <p:nvPicPr>
          <p:cNvPr id="6" name="Content Placeholder 4" descr="A white fetus and gender symbols on a pink background&#10;&#10;AI-generated content may be incorrect.">
            <a:extLst>
              <a:ext uri="{FF2B5EF4-FFF2-40B4-BE49-F238E27FC236}">
                <a16:creationId xmlns:a16="http://schemas.microsoft.com/office/drawing/2014/main" id="{E12EB3B1-CDC6-C87A-ED17-BAE922CCF4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625" b="85946"/>
          <a:stretch/>
        </p:blipFill>
        <p:spPr>
          <a:xfrm>
            <a:off x="0" y="0"/>
            <a:ext cx="2508422" cy="6858000"/>
          </a:xfrm>
          <a:prstGeom prst="rect">
            <a:avLst/>
          </a:prstGeom>
        </p:spPr>
      </p:pic>
      <p:pic>
        <p:nvPicPr>
          <p:cNvPr id="7" name="Content Placeholder 4" descr="A white fetus and gender symbols on a pink background&#10;&#10;AI-generated content may be incorrect.">
            <a:extLst>
              <a:ext uri="{FF2B5EF4-FFF2-40B4-BE49-F238E27FC236}">
                <a16:creationId xmlns:a16="http://schemas.microsoft.com/office/drawing/2014/main" id="{3D386FA3-5368-5C3B-5C24-0B6DE61EE0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625" b="85946"/>
          <a:stretch/>
        </p:blipFill>
        <p:spPr>
          <a:xfrm>
            <a:off x="9683578" y="0"/>
            <a:ext cx="2508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68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7BD5A-3B1B-5CA2-12F5-A51E18273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diagram of the structure of the ovary&#10;&#10;AI-generated content may be incorrect.">
            <a:extLst>
              <a:ext uri="{FF2B5EF4-FFF2-40B4-BE49-F238E27FC236}">
                <a16:creationId xmlns:a16="http://schemas.microsoft.com/office/drawing/2014/main" id="{940544D6-6348-614C-0222-63AF5609F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646" r="16946" b="14281"/>
          <a:stretch/>
        </p:blipFill>
        <p:spPr>
          <a:xfrm>
            <a:off x="2483710" y="2094958"/>
            <a:ext cx="5820032" cy="4675566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369F4C-99F9-050E-7A70-3D649476A767}"/>
              </a:ext>
            </a:extLst>
          </p:cNvPr>
          <p:cNvSpPr txBox="1"/>
          <p:nvPr/>
        </p:nvSpPr>
        <p:spPr>
          <a:xfrm>
            <a:off x="271849" y="358346"/>
            <a:ext cx="1150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/>
              <a:t>At 6 weeks of gestation, all fetuses have the same "</a:t>
            </a:r>
            <a:r>
              <a:rPr lang="en-US" sz="3600" dirty="0" err="1"/>
              <a:t>protogenitals</a:t>
            </a:r>
            <a:r>
              <a:rPr lang="en-US" sz="3600" dirty="0"/>
              <a:t>," which resemble neither female nor male genitals.  These include the gonads, tubercle and swelling.</a:t>
            </a:r>
          </a:p>
        </p:txBody>
      </p:sp>
    </p:spTree>
    <p:extLst>
      <p:ext uri="{BB962C8B-B14F-4D97-AF65-F5344CB8AC3E}">
        <p14:creationId xmlns:p14="http://schemas.microsoft.com/office/powerpoint/2010/main" val="2215559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6393-A25B-E6FE-4F1F-8ECB44C3C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36C393-4E46-07EA-A02B-2719EC36C9EE}"/>
              </a:ext>
            </a:extLst>
          </p:cNvPr>
          <p:cNvSpPr txBox="1"/>
          <p:nvPr/>
        </p:nvSpPr>
        <p:spPr>
          <a:xfrm>
            <a:off x="271849" y="358346"/>
            <a:ext cx="1150414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At 12 weeks, the </a:t>
            </a:r>
            <a:r>
              <a:rPr lang="en-US" sz="3200" dirty="0" err="1"/>
              <a:t>protogenitals</a:t>
            </a:r>
            <a:r>
              <a:rPr lang="en-US" sz="3200" dirty="0"/>
              <a:t> have developed about halfway to their fully developed form.  In this case, the swelling has largely remained in place, with a hole forming between them.  What sex do you think this fetus is?</a:t>
            </a:r>
          </a:p>
        </p:txBody>
      </p:sp>
      <p:pic>
        <p:nvPicPr>
          <p:cNvPr id="7" name="Picture 6" descr="A colorful object with a hole in the middle&#10;&#10;AI-generated content may be incorrect.">
            <a:extLst>
              <a:ext uri="{FF2B5EF4-FFF2-40B4-BE49-F238E27FC236}">
                <a16:creationId xmlns:a16="http://schemas.microsoft.com/office/drawing/2014/main" id="{F2227AB3-CC91-1283-9E6A-0AE43A235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00" b="13415"/>
          <a:stretch/>
        </p:blipFill>
        <p:spPr>
          <a:xfrm>
            <a:off x="2427416" y="2298357"/>
            <a:ext cx="7213600" cy="455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94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7E12A-71E8-7E95-3019-01850397A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A9CA68B-471E-26EB-83EF-4E5E9E85F519}"/>
              </a:ext>
            </a:extLst>
          </p:cNvPr>
          <p:cNvSpPr txBox="1"/>
          <p:nvPr/>
        </p:nvSpPr>
        <p:spPr>
          <a:xfrm>
            <a:off x="271849" y="358346"/>
            <a:ext cx="115041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At 20 weeks, the fetus has developed fully functioning genitals.  You can now see this is a female fetus, with a clitoris, labia and ovaries.</a:t>
            </a:r>
          </a:p>
        </p:txBody>
      </p:sp>
      <p:pic>
        <p:nvPicPr>
          <p:cNvPr id="3" name="Picture 2" descr="A diagram of a reproductive system&#10;&#10;AI-generated content may be incorrect.">
            <a:extLst>
              <a:ext uri="{FF2B5EF4-FFF2-40B4-BE49-F238E27FC236}">
                <a16:creationId xmlns:a16="http://schemas.microsoft.com/office/drawing/2014/main" id="{C908B14C-C446-7DE2-2755-8B78E560E7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76" b="9149"/>
          <a:stretch/>
        </p:blipFill>
        <p:spPr>
          <a:xfrm>
            <a:off x="1838803" y="1865871"/>
            <a:ext cx="7772400" cy="469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8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E451-078D-EFF7-525F-65A9C42C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 of a diagram of a reproductive system&#10;&#10;AI-generated content may be incorrect.">
            <a:extLst>
              <a:ext uri="{FF2B5EF4-FFF2-40B4-BE49-F238E27FC236}">
                <a16:creationId xmlns:a16="http://schemas.microsoft.com/office/drawing/2014/main" id="{7BE94060-3B1C-0774-4E89-D5F220556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77" y="949491"/>
            <a:ext cx="8437696" cy="58220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1145BB-B454-D6A5-0471-76FC27A73DBB}"/>
              </a:ext>
            </a:extLst>
          </p:cNvPr>
          <p:cNvSpPr txBox="1"/>
          <p:nvPr/>
        </p:nvSpPr>
        <p:spPr>
          <a:xfrm>
            <a:off x="271849" y="358346"/>
            <a:ext cx="115041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This shows the differences in the development of female and male genitals.</a:t>
            </a:r>
          </a:p>
        </p:txBody>
      </p:sp>
    </p:spTree>
    <p:extLst>
      <p:ext uri="{BB962C8B-B14F-4D97-AF65-F5344CB8AC3E}">
        <p14:creationId xmlns:p14="http://schemas.microsoft.com/office/powerpoint/2010/main" val="1338825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118</Words>
  <Application>Microsoft Macintosh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 Avilla</dc:creator>
  <cp:lastModifiedBy>Ross Avilla</cp:lastModifiedBy>
  <cp:revision>1</cp:revision>
  <dcterms:created xsi:type="dcterms:W3CDTF">2025-05-16T22:24:21Z</dcterms:created>
  <dcterms:modified xsi:type="dcterms:W3CDTF">2025-05-18T03:47:36Z</dcterms:modified>
</cp:coreProperties>
</file>